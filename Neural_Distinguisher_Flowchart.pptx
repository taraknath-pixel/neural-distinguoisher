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743200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0000"/>
                </a:solidFill>
              </a:defRPr>
            </a:pPr>
            <a:r>
              <a:t>Neural Distinguisher</a:t>
            </a:r>
          </a:p>
          <a:p>
            <a:pPr>
              <a:spcBef>
                <a:spcPts val="1200"/>
              </a:spcBef>
              <a:defRPr sz="2600" b="1">
                <a:solidFill>
                  <a:srgbClr val="323232"/>
                </a:solidFill>
              </a:defRPr>
            </a:pPr>
            <a:r>
              <a:t>Cryptographic Algorithm Identification using Deep Learning</a:t>
            </a:r>
          </a:p>
          <a:p>
            <a:pPr>
              <a:spcBef>
                <a:spcPts val="2000"/>
              </a:spcBef>
              <a:defRPr sz="1900">
                <a:solidFill>
                  <a:srgbClr val="505050"/>
                </a:solidFill>
              </a:defRPr>
            </a:pPr>
            <a:r>
              <a:t>End-to-End Pipeline Architecture: Simulation, 49 NIST Feature Extraction, Multi-Architecture Classification, and Interactive User Inference.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Executive Overview: Core System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92.0%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Peak 1D CNN Accuracy</a:t>
            </a:r>
          </a:p>
          <a:p>
            <a:pPr>
              <a:spcBef>
                <a:spcPts val="1600"/>
              </a:spcBef>
              <a:defRPr sz="1800">
                <a:solidFill>
                  <a:srgbClr val="323232"/>
                </a:solidFill>
              </a:defRPr>
            </a:pPr>
            <a:r>
              <a:t>Evaluated on 512 KB AES vs. 3DES ciphertexts, outperforming traditional ML models by up to 38%.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49 Features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NIST SP 800-22 Tests</a:t>
            </a:r>
          </a:p>
          <a:p>
            <a:pPr>
              <a:spcBef>
                <a:spcPts val="1600"/>
              </a:spcBef>
              <a:defRPr sz="1800">
                <a:solidFill>
                  <a:srgbClr val="323232"/>
                </a:solidFill>
              </a:defRPr>
            </a:pPr>
            <a:r>
              <a:t>Comprehensive suite of bit, block, spectral, and complexity statistical tests extracted per sample.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25,000 Samples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Empirical Dataset</a:t>
            </a:r>
          </a:p>
          <a:p>
            <a:pPr>
              <a:spcBef>
                <a:spcPts val="1600"/>
              </a:spcBef>
              <a:defRPr sz="1800">
                <a:solidFill>
                  <a:srgbClr val="323232"/>
                </a:solidFill>
              </a:defRPr>
            </a:pPr>
            <a:r>
              <a:t>Balanced dataset covering 5 block ciphers across 5 file sizes with 1,000 samples 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PIPELINE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System Flowchart: End-to-End Execution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t>Stage 1: Simulation &amp; Data Gen  (data_generation.py)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25,000 ciphertext samples generated across 5 ciphers &amp; 5 block sizes.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t>Stage 2: NIST Feature Extraction  (feature_extraction.py)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49 statistical randomness metrics computed per ciphertext sample.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t>Stage 3: Multi-Architecture Training  (classification.py)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1D CNN, MLP, and 5 traditional baseline ML classifiers trained &amp; tuned.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t>Stage 4: Model Calibration &amp; Loading  (inference.py / models)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Decision thresholds calibrated; lightweight model weights packaged.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t>Stage 5: Tester &amp; Live User Inference  (predict.py / api.py)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Demo-1 empirical evaluation and Demo-2 live normalizer (Hex, CSV, System).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STAGE 1 — DATA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Stage 1: Ciphertext Simulation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High-Entropy Plaintext Generation: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Constructed by concatenating 16-byte random UUID4 blocks until the target size (1 KB to 512 KB) is reached, simulating realistic structured data.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ECB Encryption Mode with Fixed Keys: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Plaintexts are encrypted in Electronic Codebook (ECB) mode to isolate intrinsic diffusion behavior across cryptographic algorithms without IV masking.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Strict PKCS#7 Padding Alignment: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128-bit block padding for AES, and 64-bit block padding for 3DES, CAST-128, RC2, and Blowfish to maintain valid cryptographic standards.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Automated Directory Partitioning: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Organized as crypto_validation_dataset/ciphertext/&lt;Algorithm&gt;/&lt;Size&gt;/sample_&lt;ID&gt;.bin ready for feature extraction.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STAGE 1 — DATASET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Stage 1: Complete 25,000 Sample Dataset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23232"/>
                </a:solidFill>
              </a:defRPr>
            </a:pPr>
            <a:r>
              <a:t>Mathematical Grid: 5 Ciphers × 5 File Sizes × 1,000 Samples = 25,000 Total Files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645920"/>
                <a:gridCol w="1645920"/>
                <a:gridCol w="1645920"/>
                <a:gridCol w="1645920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1 KB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8 KB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64 KB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256 KB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512 KB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AES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3DES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CAST-128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RC2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Blowfish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Total per Size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STAGE 2 —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Stage 2: NIST SP 800-22 Feature Suite (49 Features)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Bit &amp; Block Level Tests (9 Features):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Monobit Frequency, Block Frequency (M=128), Runs Test, Proportion of Ones, Longest Run of Ones, and Binary Matrix Rank (32×32).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Spectral &amp; Non-Overlapping Template Tests (33 Features):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Discrete Fourier Transform (Spectral peak detection) and 39 aperiodic non-overlapping template matching tests detecting non-random bit patterns.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Complexity &amp; Cumulative Walk Tests (7 Features):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Maurer's Universal Statistical Test, Approximate Entropy (m=10), Forward/Reverse Cumulative Sums, and Random Excursion distribution tests.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Extracted Feature Matrix: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Constructs a unified, normalized matrix of shape (25000, 49) stored in extracted_features.npz for ML consumption.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ENGINEERING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Stage 2: 1,500x Vectorization Speedup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The Computational Bottleneck:</a:t>
            </a:r>
          </a:p>
          <a:p>
            <a:pPr>
              <a:spcBef>
                <a:spcPts val="300"/>
              </a:spcBef>
              <a:defRPr sz="1800">
                <a:solidFill>
                  <a:srgbClr val="323232"/>
                </a:solidFill>
              </a:defRPr>
            </a:pPr>
            <a:r>
              <a:t>The standard Python NIST template matching test processes 39 templates across 16,384 blocks = 638,976 nested loop iterations per 512 KB sample. This took ~40 seconds per file, causing pipeline stalls on large inputs.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NumPy 2D Block Sliding Window Vectorization:</a:t>
            </a:r>
          </a:p>
          <a:p>
            <a:pPr>
              <a:spcBef>
                <a:spcPts val="300"/>
              </a:spcBef>
              <a:defRPr sz="1800">
                <a:solidFill>
                  <a:srgbClr val="323232"/>
                </a:solidFill>
              </a:defRPr>
            </a:pPr>
            <a:r>
              <a:t>Re-engineered non_overlapping_template_matching_test into batch_non_overlapping_template_matching using vectorized 2D strided array operations. This replaces slow interpreted loops with native C-speed matrix broadcasting.</a:t>
            </a:r>
          </a:p>
          <a:p>
            <a:pPr>
              <a:spcBef>
                <a:spcPts val="1200"/>
              </a:spcBef>
              <a:defRPr sz="2000" b="1">
                <a:solidFill>
                  <a:srgbClr val="000000"/>
                </a:solidFill>
              </a:defRPr>
            </a:pPr>
            <a:r>
              <a:t>• Empirical Performance Leap:</a:t>
            </a:r>
          </a:p>
          <a:p>
            <a:pPr>
              <a:spcBef>
                <a:spcPts val="300"/>
              </a:spcBef>
              <a:defRPr sz="1800">
                <a:solidFill>
                  <a:srgbClr val="323232"/>
                </a:solidFill>
              </a:defRPr>
            </a:pPr>
            <a:r>
              <a:t>Latency dropped from 40.0 seconds down to 0.023 seconds per sample — a 1,500x speedup that makes manual 512 KB inference instantaneous.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STAGE 3 —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Stage 3: Proposed 1D CNN Architecture (PyTorch)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Input Representation: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49-element normalized NIST feature vector reshaped into a 1×49 1D tensor.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Convolutional Feature Extractor: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Conv1D(1 -&gt; 32, kernel=3, pad=1) + BatchNorm1D + ReLU + MaxPool1D(2), followed by Conv1D(32 -&gt; 64, kernel=3, pad=1) + BatchNorm1D + ReLU + MaxPool1D(2).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Dense Representation &amp; Regularization: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Flattened representation (64 × 12 = 768) projected to Linear(768, 128) + ReLU + Dropout(0.3) to prevent overfitting.</a:t>
            </a:r>
          </a:p>
          <a:p>
            <a:pPr>
              <a:spcBef>
                <a:spcPts val="1000"/>
              </a:spcBef>
              <a:defRPr sz="2000" b="1">
                <a:solidFill>
                  <a:srgbClr val="000000"/>
                </a:solidFill>
              </a:defRPr>
            </a:pPr>
            <a:r>
              <a:t>• Classification Head &amp; Optimization: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Linear(128, 2) for AES vs. 3DES binary distinction. Trained using Adam optimizer, CrossEntropyLoss, and Early Stopping (patience=50).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STAGE 3 — BASELINE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Stage 3: Benchmark Machine Learning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• Multi-Layer Perceptron (MLP):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Deep baseline with 2 hidden layers (64 × 32), ReLU activation, Adam optimizer, achieving 82.5% on 512 KB.</a:t>
            </a: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• Random Forest (RF):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Ensemble of 100 decision trees with Gini impurity splitting; robust baseline achieving up to 65% accuracy.</a:t>
            </a: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• Support Vector Machine (SVM):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Nonlinear Support Vector Classifier using Radial Basis Function (RBF) kernel with Platt probability scaling.</a:t>
            </a: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• K-Nearest Neighbors (KNN):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Instance-based classifier (k=5 neighbors) with Euclidean distance metric weighting.</a:t>
            </a: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• Logistic Regression (LR) &amp; Gaussian Naive Bayes (GNB):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L2-regularized linear model and probabilistic feature-independence baselines (50% to 62% accuracy).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STAGE 4 — BENCHMARK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Stage 4: Empirical Benchmark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3985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Key Takeaways: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• 1D CNN reaches 92.0% accuracy on 512 KB, outperforming traditional ML baselines by up to 38%.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• Deep convolutional filters successfully discover subtle residual diffusion artifacts across ciphertext blocks.</a:t>
            </a:r>
          </a:p>
          <a:p>
            <a:pPr>
              <a:spcBef>
                <a:spcPts val="1200"/>
              </a:spcBef>
              <a:defRPr sz="1800">
                <a:solidFill>
                  <a:srgbClr val="323232"/>
                </a:solidFill>
              </a:defRPr>
            </a:pPr>
            <a:r>
              <a:t>• Traditional ML models plateau around 55% to 65% because handcrafted features lose nonlinear correlations.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STAGE 4 — ACCURACY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Stage 4: Accuracy Comparison Matrix (AES vs. 3DES)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23232"/>
                </a:solidFill>
              </a:defRPr>
            </a:pPr>
            <a:r>
              <a:t>Binary Classification Accuracy across File Sizes (10-Fold Stratified Cross-Validation)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789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CNN (Ours)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GNB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1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72.5%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8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84.5%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72.5%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64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89.5%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77.5%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256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89.5%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77.5%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512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82.5%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54.0%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STAGE 5 —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Stage 5: Live User Experience &amp; Inference (Demo-1 vs. Demo-2)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2743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• Demo-1: Automated Benchmark Verification Flow: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Executes Flowchart Steps 4 &amp; 5 on application launch: verifies 1,000-sample trained models across all 7 architectures, prints empirical accuracy matrix, and automatically pops up the comparison chart.</a:t>
            </a: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• Demo-2: Live User Input Normalizer (3 Input Modes):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Mode 1: Manual Hex Input (terminal paste or path to .hex/.txt file with clean 32-byte preview). Mode 2: Batch CSV File Upload (consensus voting). Mode 3: System Generator (encrypts AES or 3DES ciphertext on the fly).</a:t>
            </a: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• Smart Auto-Snap &amp; Size Guardrails: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Enforces minimum 1 KB and maximum 512 KB input boundaries. Automatically snaps arbitrary byte lengths to the nearest trained block size (1 KB, 8 KB, 64 KB, 256 KB, 512 KB).</a:t>
            </a: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• Out-of-Distribution (OOD) Rejection:</a:t>
            </a:r>
          </a:p>
          <a:p>
            <a:pPr>
              <a:spcBef>
                <a:spcPts val="200"/>
              </a:spcBef>
              <a:defRPr sz="1800">
                <a:solidFill>
                  <a:srgbClr val="323232"/>
                </a:solidFill>
              </a:defRPr>
            </a:pPr>
            <a:r>
              <a:t>Entropy-based softmax rejection: rejects non-target inputs with 'Does not belong to AES or 3DES' rather than guessing incorrectly.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