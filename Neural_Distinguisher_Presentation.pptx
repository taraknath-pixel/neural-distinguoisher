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5A5A"/>
                </a:solidFill>
              </a:defRPr>
            </a:pPr>
            <a:r>
              <a:t>STAGE-BY-STAGE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200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5A5A5A"/>
                </a:solidFill>
              </a:defRPr>
            </a:pPr>
            <a:r>
              <a:t>1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End-to-End Pipeline Architecture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108960" cy="224028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Ciphertext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• Input Tiers: 1 KB to 512 KB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• AES-128: 128-bit key, 16B block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• 3DES: 192-bit key, 8B block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• Plaintext: Random UUID4 bytes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31920" y="2423160"/>
            <a:ext cx="411480" cy="320040"/>
          </a:xfrm>
          <a:prstGeom prst="rightArrow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3200400" cy="224028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32004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1874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NIST SP 800-22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• 49-D Statistical Vector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• P-Values: Monobit, Runs, FFT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• Matrix Rank, ApEn, Cusum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• 39 Aperiodic Templates (m=6)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26679" y="2423160"/>
            <a:ext cx="411480" cy="320040"/>
          </a:xfrm>
          <a:prstGeom prst="rightArrow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463040"/>
            <a:ext cx="3200400" cy="224028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463040"/>
            <a:ext cx="32004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74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Normalization &amp; Splits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• StandardScaler (z-score)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• Formula: z = (x - μ) / σ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• 10 Stratified Folds (80/20)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• Strict Zero Data Leakage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601200" y="3794760"/>
            <a:ext cx="320040" cy="320040"/>
          </a:xfrm>
          <a:prstGeom prst="downArrow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0" y="4206240"/>
            <a:ext cx="5303520" cy="224028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206240"/>
            <a:ext cx="530352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STAGE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617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7-Architecture Model 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• 1D CNN (Proposed): Conv1D(16) -&gt; Conv1D(32) -&gt; Dense (1000 Epochs)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• Tree Ensemble: Random Forest (100 Trees, sqrt features)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• Kernel Method: Support Vector Machine (RBF Kernel, C=1.0)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• Baselines: MLP (64x32), KNN (k=5), Logistic Reg (L2), Gaussian NB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577840" y="5166360"/>
            <a:ext cx="411480" cy="320040"/>
          </a:xfrm>
          <a:prstGeom prst="rightArrow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4206240"/>
            <a:ext cx="4754880" cy="224028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206240"/>
            <a:ext cx="475488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STAGE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617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Live Inference Engine (predict.py)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02920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• Dual Input: Raw Hexadecimal strings or Bulk CSV files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• Entropy Gating: Shannon entropy check (&lt; 1 KB rejected)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• Scale Snapping: Snaps to nearest bucket (1 KB - 512 KB)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</a:defRPr>
            </a:pPr>
            <a:r>
              <a:t>• Weighted Consensus: 2.0x CNN + 1.0x Classical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5A5A"/>
                </a:solidFill>
              </a:defRPr>
            </a:pPr>
            <a:r>
              <a:t>BENCHMARK RESULTS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200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5A5A5A"/>
                </a:solidFill>
              </a:defRPr>
            </a:pPr>
            <a:r>
              <a:t>2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Empirical Benchmark &amp; Validation Flow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42316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BENCHMARK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Binary vs. Multiclass Accuracy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0000"/>
                </a:solidFill>
              </a:defRPr>
            </a:pPr>
            <a:r>
              <a:t>• Binary Discrimination (AES vs. 3DES): Up to 92.0% Accuracy</a:t>
            </a:r>
          </a:p>
          <a:p>
            <a:pPr>
              <a:spcAft>
                <a:spcPts val="200"/>
              </a:spcAft>
              <a:defRPr sz="1400" b="0">
                <a:solidFill>
                  <a:srgbClr val="000000"/>
                </a:solidFill>
              </a:defRPr>
            </a:pPr>
            <a:r>
              <a:t>  Scale Scaling: 64% (1KB) -&gt; 72% (8KB) -&gt; 81.5% (64KB) -&gt; 92% (512KB)</a:t>
            </a:r>
          </a:p>
          <a:p>
            <a:pPr>
              <a:spcAft>
                <a:spcPts val="200"/>
              </a:spcAft>
              <a:defRPr sz="1400" b="1">
                <a:solidFill>
                  <a:srgbClr val="000000"/>
                </a:solidFill>
              </a:defRPr>
            </a:pPr>
            <a:r>
              <a:t>• 1D CNN Performance Margin: Outperforms classical ML by up to 38%</a:t>
            </a:r>
          </a:p>
          <a:p>
            <a:pPr>
              <a:spcAft>
                <a:spcPts val="200"/>
              </a:spcAft>
              <a:defRPr sz="1400" b="0">
                <a:solidFill>
                  <a:srgbClr val="000000"/>
                </a:solidFill>
              </a:defRPr>
            </a:pPr>
            <a:r>
              <a:t>• Multiclass Convergence: 5-cipher models hover at 20.0% - 22.5% (20% guess)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120640" cy="242316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69080"/>
            <a:ext cx="51206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MANUAL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Interactive System Test Flow (1 KB Input)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9204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350" b="1">
                <a:solidFill>
                  <a:srgbClr val="000000"/>
                </a:solidFill>
              </a:defRPr>
            </a:pPr>
            <a:r>
              <a:t>Test Case 1 (1 KB AES-128 Input):</a:t>
            </a:r>
          </a:p>
          <a:p>
            <a:pPr>
              <a:spcAft>
                <a:spcPts val="150"/>
              </a:spcAft>
              <a:defRPr sz="1350" b="0">
                <a:solidFill>
                  <a:srgbClr val="000000"/>
                </a:solidFill>
              </a:defRPr>
            </a:pPr>
            <a:r>
              <a:t>  • CNN: 91.8% | RF: 78.5% | SVM: 74.2% | MLP: 70.1%</a:t>
            </a:r>
          </a:p>
          <a:p>
            <a:pPr>
              <a:spcAft>
                <a:spcPts val="150"/>
              </a:spcAft>
              <a:defRPr sz="1350" b="1">
                <a:solidFill>
                  <a:srgbClr val="000000"/>
                </a:solidFill>
              </a:defRPr>
            </a:pPr>
            <a:r>
              <a:t>  • Verdict: 7 / 7 Models Agree on AES-128 (Consensus 100%)</a:t>
            </a:r>
          </a:p>
          <a:p>
            <a:pPr>
              <a:spcAft>
                <a:spcPts val="150"/>
              </a:spcAft>
              <a:defRPr sz="1350" b="1">
                <a:solidFill>
                  <a:srgbClr val="000000"/>
                </a:solidFill>
              </a:defRPr>
            </a:pPr>
            <a:r>
              <a:t>Test Case 2 (1 KB 3DES Input):</a:t>
            </a:r>
          </a:p>
          <a:p>
            <a:pPr>
              <a:spcAft>
                <a:spcPts val="150"/>
              </a:spcAft>
              <a:defRPr sz="1350" b="0">
                <a:solidFill>
                  <a:srgbClr val="000000"/>
                </a:solidFill>
              </a:defRPr>
            </a:pPr>
            <a:r>
              <a:t>  • CNN: 89.4% | RF: 76.2% | SVM: 72.8% | MLP: 69.5%</a:t>
            </a:r>
          </a:p>
          <a:p>
            <a:pPr>
              <a:spcAft>
                <a:spcPts val="150"/>
              </a:spcAft>
              <a:defRPr sz="1350" b="1">
                <a:solidFill>
                  <a:srgbClr val="000000"/>
                </a:solidFill>
              </a:defRPr>
            </a:pPr>
            <a:r>
              <a:t>  • Verdict: 7 / 7 Models Agree on 3DES (Consensus 100%)</a:t>
            </a:r>
          </a:p>
        </p:txBody>
      </p:sp>
      <p:pic>
        <p:nvPicPr>
          <p:cNvPr id="15" name="Picture 14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394960" cy="2423160"/>
          </a:xfrm>
          <a:prstGeom prst="rect">
            <a:avLst/>
          </a:prstGeom>
        </p:spPr>
      </p:pic>
      <p:pic>
        <p:nvPicPr>
          <p:cNvPr id="16" name="Picture 15" descr="manual_test_case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069080"/>
            <a:ext cx="539496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5A5A"/>
                </a:solidFill>
              </a:defRPr>
            </a:pPr>
            <a:r>
              <a:t>THEORETICAL MECHANISMS &amp; DISTINGUISHER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200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5A5A5A"/>
                </a:solidFill>
              </a:defRPr>
            </a:pPr>
            <a:r>
              <a:t>3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Cryptanalytic Separation &amp; Invariance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502920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21208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MECHANISM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Why 1D CNN Distinguishes AES vs. 3DES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50" b="1">
                <a:solidFill>
                  <a:srgbClr val="000000"/>
                </a:solidFill>
              </a:defRPr>
            </a:pPr>
            <a:r>
              <a:t>• Block Size Discrepancy (16B vs. 8B):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   AES 16-byte state matrix vs 3DES 8-byte blocks creates periodic boundary dependencies across serialized bitstreams.</a:t>
            </a:r>
          </a:p>
          <a:p>
            <a:pPr>
              <a:spcAft>
                <a:spcPts val="200"/>
              </a:spcAft>
              <a:defRPr sz="1550" b="1">
                <a:solidFill>
                  <a:srgbClr val="000000"/>
                </a:solidFill>
              </a:defRPr>
            </a:pPr>
            <a:r>
              <a:t>• Spatial Autocorrelation in P-Values: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   1D CNN kernels capture localized cross-test interactions (Matrix Rank, Spectral FFT, Cusum) that flat models miss.</a:t>
            </a:r>
          </a:p>
          <a:p>
            <a:pPr>
              <a:spcAft>
                <a:spcPts val="200"/>
              </a:spcAft>
              <a:defRPr sz="1550" b="1">
                <a:solidFill>
                  <a:srgbClr val="000000"/>
                </a:solidFill>
              </a:defRPr>
            </a:pPr>
            <a:r>
              <a:t>• Diffusion Topology Differences: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   AES achieves full-block algebraic diffusion via MixColumns in GF(2^8); 3DES relies on 48-round Feistel half-block permutations.</a:t>
            </a:r>
          </a:p>
          <a:p>
            <a:pPr>
              <a:spcAft>
                <a:spcPts val="200"/>
              </a:spcAft>
              <a:defRPr sz="1550" b="1">
                <a:solidFill>
                  <a:srgbClr val="000000"/>
                </a:solidFill>
              </a:defRPr>
            </a:pPr>
            <a:r>
              <a:t>• Scale Amplification Effect: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   Expanding ciphertext from 1 KB to 512 KB reduces empirical noise, driving accuracy from 64.0% up to 92.0%.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5257800" cy="233172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52578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THEORETICAL INVARIANCE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7452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Multiclass Convergence to 20% Random Guess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40280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000000"/>
                </a:solidFill>
              </a:defRPr>
            </a:pPr>
            <a:r>
              <a:t>Confirms Shannon's Confusion &amp; Diffusion Security:</a:t>
            </a:r>
          </a:p>
          <a:p>
            <a:pPr>
              <a:spcAft>
                <a:spcPts val="300"/>
              </a:spcAft>
              <a:defRPr sz="1450" b="0">
                <a:solidFill>
                  <a:srgbClr val="000000"/>
                </a:solidFill>
              </a:defRPr>
            </a:pPr>
            <a:r>
              <a:t>• When 5 ciphers are tested simultaneously, all 7 models converge to 20.0% - 22.5% accuracy (Random Guess = 20.0%).</a:t>
            </a:r>
          </a:p>
          <a:p>
            <a:pPr>
              <a:spcAft>
                <a:spcPts val="300"/>
              </a:spcAft>
              <a:defRPr sz="1450" b="0">
                <a:solidFill>
                  <a:srgbClr val="000000"/>
                </a:solidFill>
              </a:defRPr>
            </a:pPr>
            <a:r>
              <a:t>• Modern block ciphers produce computationally indistinguishable pseudo-random distributions across multi-algorithm pools.</a:t>
            </a:r>
          </a:p>
        </p:txBody>
      </p:sp>
      <p:pic>
        <p:nvPicPr>
          <p:cNvPr id="15" name="Picture 14" descr="multiclass_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977639"/>
            <a:ext cx="52578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5A5A"/>
                </a:solidFill>
              </a:defRPr>
            </a:pPr>
            <a:r>
              <a:t>SYSTEM BOUNDS &amp; ADVANCED CRYPTANALYSIS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200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5A5A5A"/>
                </a:solidFill>
              </a:defRPr>
            </a:pPr>
            <a:r>
              <a:t>4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Constraints &amp; Future Research Roadmap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502920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21208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OPERATIONAL BOUNDS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Current System Constraints &amp; Assumptions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50" b="1">
                <a:solidFill>
                  <a:srgbClr val="000000"/>
                </a:solidFill>
              </a:defRPr>
            </a:pPr>
            <a:r>
              <a:t>• Minimum Input Size Threshold (&gt;= 1 KB):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   NIST statistical tests require &gt;= 1,024 bytes (8,192 bits) for valid p-value stability. Sub-1KB inputs lack mathematical significance.</a:t>
            </a:r>
          </a:p>
          <a:p>
            <a:pPr>
              <a:spcAft>
                <a:spcPts val="200"/>
              </a:spcAft>
              <a:defRPr sz="1550" b="1">
                <a:solidFill>
                  <a:srgbClr val="000000"/>
                </a:solidFill>
              </a:defRPr>
            </a:pPr>
            <a:r>
              <a:t>• Operational Mode Assumption (ECB):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   Evaluated in ECB to isolate intrinsic algorithmic block permutations without randomized IV masking.</a:t>
            </a:r>
          </a:p>
          <a:p>
            <a:pPr>
              <a:spcAft>
                <a:spcPts val="200"/>
              </a:spcAft>
              <a:defRPr sz="1550" b="1">
                <a:solidFill>
                  <a:srgbClr val="000000"/>
                </a:solidFill>
              </a:defRPr>
            </a:pPr>
            <a:r>
              <a:t>• Fixed Cryptographic Key Evaluation: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   Evaluated fixed keys to verify whether structural cipher signatures persist independently of key schedule variability.</a:t>
            </a:r>
          </a:p>
          <a:p>
            <a:pPr>
              <a:spcAft>
                <a:spcPts val="200"/>
              </a:spcAft>
              <a:defRPr sz="1550" b="1">
                <a:solidFill>
                  <a:srgbClr val="000000"/>
                </a:solidFill>
              </a:defRPr>
            </a:pPr>
            <a:r>
              <a:t>• Computational &amp; Training Scale: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   Training capped at 512 KB blocks across 1,000 epochs; gigabyte-scale datasets require distributed GPU clusters.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5257800" cy="502920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52578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7452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Next Scope: 4 Research Horizons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40280"/>
            <a:ext cx="4983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50" b="1">
                <a:solidFill>
                  <a:srgbClr val="000000"/>
                </a:solidFill>
              </a:defRPr>
            </a:pPr>
            <a:r>
              <a:t>• Phase 1: Scaling Key Sizes (AES-192 &amp; AES-256):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   Test if expanded key schedules (12 &amp; 14 rounds) alter residual bit-diffusion detectable by deeper neural networks.</a:t>
            </a:r>
          </a:p>
          <a:p>
            <a:pPr>
              <a:spcAft>
                <a:spcPts val="200"/>
              </a:spcAft>
              <a:defRPr sz="1550" b="1">
                <a:solidFill>
                  <a:srgbClr val="000000"/>
                </a:solidFill>
              </a:defRPr>
            </a:pPr>
            <a:r>
              <a:t>• Phase 2: Chaining Modes (CBC / CTR / GCM):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   Investigate if deep sequence models (Bi-LSTM, Transformers) can pierce randomized IV chaining across sequential blocks.</a:t>
            </a:r>
          </a:p>
          <a:p>
            <a:pPr>
              <a:spcAft>
                <a:spcPts val="200"/>
              </a:spcAft>
              <a:defRPr sz="1550" b="1">
                <a:solidFill>
                  <a:srgbClr val="000000"/>
                </a:solidFill>
              </a:defRPr>
            </a:pPr>
            <a:r>
              <a:t>• Phase 3: Neural Differential Key Recovery Attacks: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   Advance from passive classification to active attacks: training ResNets to predict round-key bits via differential neural cryptanalysis.</a:t>
            </a:r>
          </a:p>
          <a:p>
            <a:pPr>
              <a:spcAft>
                <a:spcPts val="200"/>
              </a:spcAft>
              <a:defRPr sz="1550" b="1">
                <a:solidFill>
                  <a:srgbClr val="000000"/>
                </a:solidFill>
              </a:defRPr>
            </a:pPr>
            <a:r>
              <a:t>• Phase 4: Physical Side-Channel Integration: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   Combine NIST statistical features with electromagnetic and power consumption traces for hardware-level identification.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